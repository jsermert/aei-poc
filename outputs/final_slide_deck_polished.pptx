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91840"/>
            <a:ext cx="777240" cy="508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 401  ·  BUSINESS INTELLIGENCE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329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
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UCI x CDC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B2A4A"/>
                </a:solidFill>
                <a:latin typeface="Calibri"/>
              </a:rPr>
              <a:t>Diabetes Risk Prediction
by Patient Health Indicators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4160520"/>
            <a:ext cx="10972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3A3A3A"/>
                </a:solidFill>
                <a:latin typeface="Calibri"/>
              </a:rPr>
              <a:t>Comparing logistic regression, KNN, and a tuned decision tree on 253,680 patients.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48640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Joshua Ermert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852160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  <a:latin typeface="Calibri"/>
              </a:rPr>
              <a:t>Dr. Xialu Liu  ·  7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120640" cy="429768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E0A458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Identify which patient indicators predict diabetes — and turn that signal into earlier screening and targeted prevention.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074920"/>
            <a:ext cx="73152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2E7EE"/>
                </a:solidFill>
                <a:latin typeface="Calibri"/>
              </a:rPr>
              <a:t>The driving question for this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54480"/>
            <a:ext cx="585216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691640"/>
            <a:ext cx="50800" cy="105156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Public-health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5740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Diabetes is a leading U.S. public-health condition with high cost and uneven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017520"/>
            <a:ext cx="585216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154680"/>
            <a:ext cx="50800" cy="105156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154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Three classifiers, one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52044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Multinomial logistic regression, KNN, and a tuned decision tree applied to the same 70/30 split.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480560"/>
            <a:ext cx="5852160" cy="1325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4617720"/>
            <a:ext cx="50800" cy="105156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Personal stake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98348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Type II diabetes in the family, plus prior biopharma BI/AI analytics work — applied analytics in a real healthcare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Dataset and Response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CDC Diabetes Health Indicators (UCI ML Repository, BRFSS-derived)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576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253,680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PREDICTORS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8444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21  +  1 response (Diabetes_012)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5312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None</a:t>
            </a:r>
          </a:p>
        </p:txBody>
      </p:sp>
      <p:pic>
        <p:nvPicPr>
          <p:cNvPr id="13" name="Picture 12" descr="chart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554480"/>
            <a:ext cx="6126480" cy="1252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4114800"/>
            <a:ext cx="6126480" cy="1828800"/>
          </a:xfrm>
          <a:prstGeom prst="roundRect">
            <a:avLst>
              <a:gd name="adj" fmla="val 5000"/>
            </a:avLst>
          </a:prstGeom>
          <a:solidFill>
            <a:srgbClr val="F7E7DF"/>
          </a:solidFill>
          <a:ln w="15875">
            <a:solidFill>
              <a:srgbClr val="C14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2519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1441E"/>
                </a:solidFill>
                <a:latin typeface="Calibri"/>
              </a:rPr>
              <a:t>KEY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52628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Severe class imbalance — 84.24 % NoDiabetes, 1.83 % Prediabetes, 13.93 % Diabetes — is the single most important property of this dataset and shapes how every model should be 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Variables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CATEGORICAL /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14 predictors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HighBP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HighChol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CholCheck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Smoker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Stroke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HeartDiseaseorAttack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PhysActivity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Fruits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Veggies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HvyAlcoholConsump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AnyHealthcare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NoDocbcCost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DiffWalk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Sex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Calibri"/>
              </a:rPr>
              <a:t>CONTINUOUS / ORDINAL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F7A8C"/>
                </a:solidFill>
                <a:latin typeface="Calibri"/>
              </a:rPr>
              <a:t>7 predictors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BMI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GenHlth (1 excellent – 5 poor)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MentHlth (days in past 30)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PhysHlth (days in past 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743200"/>
            <a:ext cx="237744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•  Age (1 youngest – 13 oldest)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Education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3A3A3A"/>
                </a:solidFill>
                <a:latin typeface="Calibri"/>
              </a:rPr>
              <a:t>• 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Categorical predictors → factors for logit + tree.   KNN → numeric encoding with z-score scaling fit on the training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Preliminary Analysis  —  EDA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BMI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Median rises 27  →  30  →  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7830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Median age category 8  →  9  → 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17830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745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GenHlth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317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Markedly worse self-rated health in Diabetes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546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HighBP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~3× more common in Diabetes group than NoDiabetes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546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3832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4747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HighChol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319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Same direction at slightly smaller magnitude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154680"/>
            <a:ext cx="3703320" cy="14173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383280"/>
            <a:ext cx="457200" cy="3810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4747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PhysActivity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31920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  <a:latin typeface="Calibri"/>
              </a:rPr>
              <a:t>Lower in Diabetes group; Sex effect present but weaker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11338560" cy="86868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STRONGEST EARLY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66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HighBP   ·   GenHlth   ·   HighChol   ·   BMI   ·   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These five predictors should reappear in the modeling output. Hold onto them — they show up again on slide 9.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Same split for all three models  ·  set.seed(401)  ·  70/30  ·  Train n = 177,576   Test n = 76,104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703320" cy="5029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STATISTICAL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Multinomial
Logistic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79"/>
            <a:ext cx="3154680" cy="411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A3A3A"/>
                </a:solidFill>
                <a:latin typeface="Calibri"/>
              </a:rPr>
              <a:t>nnet::multinom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Factor-coded predictors. Interpretable coefficients per non-reference class (Prediabetes, Diabetes vs. NoDiabetes).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703320" cy="50292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7568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INSTANCE-BASED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5176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K-Nearest
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840479"/>
            <a:ext cx="3154680" cy="411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86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A3A3A"/>
                </a:solidFill>
                <a:latin typeface="Calibri"/>
              </a:rPr>
              <a:t>class::knn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3484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z-score scaling fit on training set. Tuned k ∈ {3, 5, 7, 9}; reports best 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965960"/>
            <a:ext cx="370332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65960"/>
            <a:ext cx="3703320" cy="50292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07568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RULE-BASED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51760"/>
            <a:ext cx="31546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Decision Tree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840479"/>
            <a:ext cx="3154680" cy="411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88620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3A3A3A"/>
                </a:solidFill>
                <a:latin typeface="Calibri"/>
              </a:rPr>
              <a:t>rpart  (method = "class")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34840"/>
            <a:ext cx="31546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Default cp = 0.01 refused to split. Tuned to cp = 0.001, minsplit = 2000, minbucket = 1000, maxdepth = 5 — honest tuning, not deep optimization.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Evaluation: confusion matrix + overall test accuracy + decision-tree variable importance.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Model Comparison  —  Test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863840" cy="349706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554480"/>
            <a:ext cx="3200400" cy="420624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737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HEADLINE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0116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0.8475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880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458"/>
                </a:solidFill>
                <a:latin typeface="Calibri"/>
              </a:rPr>
              <a:t>Decision Tree wins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1089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by 0.0008 over logit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3749039"/>
            <a:ext cx="73152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388620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All four variants land within ~2 points of each other and within ~0.5 points of the 84.2 % majority-class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77777"/>
                </a:solidFill>
                <a:latin typeface="Calibri"/>
              </a:rPr>
              <a:t>Accuracy alone is misleading on this dataset — per-class evidence on slide 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Decision Tree  — 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ision_t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07" y="1417320"/>
            <a:ext cx="668528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852160"/>
            <a:ext cx="11338560" cy="548640"/>
          </a:xfrm>
          <a:prstGeom prst="roundRect">
            <a:avLst>
              <a:gd name="adj" fmla="val 5000"/>
            </a:avLst>
          </a:prstGeom>
          <a:solidFill>
            <a:srgbClr val="F7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3A3A3A"/>
                </a:solidFill>
                <a:latin typeface="Calibri"/>
              </a:rPr>
              <a:t>One Diabetes-predicting leaf:  HighBP=1  ∧  GenHlth ≥ 4  ∧  BMI ≥ 28  ∧  HighChol=1  ∧  BMI ≥ 35   →   n = 3,961, ~60 % Diabetes.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Variable Importance and Per-Class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variabl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00800" cy="4113868"/>
          </a:xfrm>
          <a:prstGeom prst="rect">
            <a:avLst/>
          </a:prstGeom>
        </p:spPr>
      </p:pic>
      <p:pic>
        <p:nvPicPr>
          <p:cNvPr id="6" name="Picture 5" descr="chart_diabetes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4937760" cy="16669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416052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C9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4297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1441E"/>
                </a:solidFill>
                <a:latin typeface="Calibri"/>
              </a:rPr>
              <a:t>WHAT THIS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4572000"/>
            <a:ext cx="45720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Tree wins on accuracy by trading sensitivity for precision.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3A3A3A"/>
                </a:solidFill>
                <a:latin typeface="Calibri"/>
              </a:rPr>
              <a:t>Logit roughly doubles Diabetes recall — most balanced single deployable model.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3A3A3A"/>
                </a:solidFill>
                <a:latin typeface="Calibri"/>
              </a:rPr>
              <a:t>Only KNN k=5 ever predicts Prediabetes (88 times, 2 correct).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Top 5 (rust) align directly with the EDA findings and with Type II diabetes risk-factor literature.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72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Practical Value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577840" cy="31089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7A8C"/>
                </a:solidFill>
                <a:latin typeface="Calibri"/>
              </a:rPr>
              <a:t>RULE-OUT BRANCH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B2A4A"/>
                </a:solidFill>
                <a:latin typeface="Calibri"/>
              </a:rPr>
              <a:t>101,437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  <a:latin typeface="Calibri"/>
              </a:rPr>
              <a:t>patients with HighBP = 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29000"/>
            <a:ext cx="640080" cy="4445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  <a:latin typeface="Calibri"/>
              </a:rPr>
              <a:t>Only 6 % Diabetes rate. Safe to deprioritize from intensive screening.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577840" cy="3108960"/>
          </a:xfrm>
          <a:prstGeom prst="roundRect">
            <a:avLst>
              <a:gd name="adj" fmla="val 5000"/>
            </a:avLst>
          </a:prstGeom>
          <a:solidFill>
            <a:srgbClr val="F7E7DF"/>
          </a:solidFill>
          <a:ln w="19050">
            <a:solidFill>
              <a:srgbClr val="C144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1441E"/>
                </a:solidFill>
                <a:latin typeface="Calibri"/>
              </a:rPr>
              <a:t>HIGH-RISK LEAF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C1441E"/>
                </a:solidFill>
                <a:latin typeface="Calibri"/>
              </a:rPr>
              <a:t>3,961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alibri"/>
              </a:rPr>
              <a:t>BMI ≥ 35  +  HighChol  +  poor GenHlth  +  HighBP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429000"/>
            <a:ext cx="640080" cy="44450"/>
          </a:xfrm>
          <a:prstGeom prst="rect">
            <a:avLst/>
          </a:prstGeom>
          <a:solidFill>
            <a:srgbClr val="C14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  <a:latin typeface="Calibri"/>
              </a:rPr>
              <a:t>~60 % Diabetes rate — about 5× the population base rate. Tractable population for targeted intervention.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11338560" cy="914400"/>
          </a:xfrm>
          <a:prstGeom prst="roundRect">
            <a:avLst>
              <a:gd name="adj" fmla="val 5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HONEST FRAMING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Accuracy ≈ baseline; class imbalance dominates. Best next step is methodological — class weights, oversampling, or a cost-sensitive threshold — not a different algorithm.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AI disclosure: generative AI organized + polished structure; data, methods, and analytical decisions are the author's, supported by validated R outputs.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Calibri"/>
              </a:rPr>
              <a:t>Diabetes Risk Prediction by Patient Health Indicators  ·  J. Ermert  ·  MIS 401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77777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