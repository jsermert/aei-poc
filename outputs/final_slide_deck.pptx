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1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9456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2A4A"/>
                </a:solidFill>
              </a:rPr>
              <a:t>Diabetes Risk Prediction by Patient Health Indicators</a:t>
            </a:r>
          </a:p>
          <a:p>
            <a:r>
              <a:rPr sz="2200">
                <a:solidFill>
                  <a:srgbClr val="C1441E"/>
                </a:solidFill>
              </a:rPr>
              <a:t>UCI x CDC  |  MIS 401: Business Intelligence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01010"/>
                </a:solidFill>
              </a:rPr>
              <a:t>Joshua Ermert</a:t>
            </a:r>
          </a:p>
          <a:p>
            <a:r>
              <a:rPr sz="1800">
                <a:solidFill>
                  <a:srgbClr val="101010"/>
                </a:solidFill>
              </a:rPr>
              <a:t>Dr. Xialu Liu</a:t>
            </a:r>
          </a:p>
          <a:p>
            <a:r>
              <a:rPr sz="1800">
                <a:solidFill>
                  <a:srgbClr val="101010"/>
                </a:solidFill>
              </a:rPr>
              <a:t>7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Diabetes Risk Prediction by Patient Health Indicators  |  J. Ermert  |  MIS 401  | 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01010"/>
                </a:solidFill>
              </a:rPr>
              <a:t>• Diabetes is a leading U.S. public-health condition with high cost and uneven distribution.</a:t>
            </a:r>
          </a:p>
          <a:p>
            <a:r>
              <a:rPr sz="2000">
                <a:solidFill>
                  <a:srgbClr val="101010"/>
                </a:solidFill>
              </a:rPr>
              <a:t>• Identifying which patient indicators predict diabetes supports earlier screening and targeted prevention.</a:t>
            </a:r>
          </a:p>
          <a:p>
            <a:r>
              <a:rPr sz="2000">
                <a:solidFill>
                  <a:srgbClr val="101010"/>
                </a:solidFill>
              </a:rPr>
              <a:t>• Question: how well do classification methods separate Diabetes / Prediabetes / NoDiabetes — and which indicators carry the signal?</a:t>
            </a:r>
          </a:p>
          <a:p>
            <a:r>
              <a:rPr sz="2000">
                <a:solidFill>
                  <a:srgbClr val="101010"/>
                </a:solidFill>
              </a:rPr>
              <a:t>• Personal motivation: Type II diabetes in family + prior biopharma BI/AI analytics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Diabetes Risk Prediction by Patient Health Indicators  |  J. Ermert  |  MIS 401  | 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</a:rPr>
              <a:t>Dataset and Response Variable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01010"/>
                </a:solidFill>
              </a:rPr>
              <a:t>• Source: CDC Diabetes Health Indicators (UCI ML Repository, BRFSS-derived).</a:t>
            </a:r>
          </a:p>
          <a:p>
            <a:r>
              <a:rPr sz="2000">
                <a:solidFill>
                  <a:srgbClr val="101010"/>
                </a:solidFill>
              </a:rPr>
              <a:t>• 253,680 observations  |  21 predictors + Diabetes_012  |  No missing values.</a:t>
            </a:r>
          </a:p>
          <a:p>
            <a:r>
              <a:rPr sz="2000">
                <a:solidFill>
                  <a:srgbClr val="101010"/>
                </a:solidFill>
              </a:rPr>
              <a:t>• Response Diabetes_012 has three classes:</a:t>
            </a:r>
          </a:p>
          <a:p>
            <a:pPr lvl="1"/>
            <a:r>
              <a:rPr sz="1700">
                <a:solidFill>
                  <a:srgbClr val="101010"/>
                </a:solidFill>
              </a:rPr>
              <a:t>– 0 = NoDiabetes — 213,703 (84.24 %)</a:t>
            </a:r>
          </a:p>
          <a:p>
            <a:pPr lvl="1"/>
            <a:r>
              <a:rPr sz="1700">
                <a:solidFill>
                  <a:srgbClr val="101010"/>
                </a:solidFill>
              </a:rPr>
              <a:t>– 1 = Prediabetes — 4,631 (1.83 %)</a:t>
            </a:r>
          </a:p>
          <a:p>
            <a:pPr lvl="1"/>
            <a:r>
              <a:rPr sz="1700">
                <a:solidFill>
                  <a:srgbClr val="101010"/>
                </a:solidFill>
              </a:rPr>
              <a:t>– 2 = Diabetes — 35,346 (13.93 %)</a:t>
            </a:r>
          </a:p>
          <a:p>
            <a:r>
              <a:rPr sz="2000">
                <a:solidFill>
                  <a:srgbClr val="101010"/>
                </a:solidFill>
              </a:rPr>
              <a:t>• Severe class imbalance is the single most important property of the dataset.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Diabetes Risk Prediction by Patient Health Indicators  |  J. Ermert  |  MIS 401  | 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</a:rPr>
              <a:t>Variables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5576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1441E"/>
                </a:solidFill>
              </a:rPr>
              <a:t>Categorical / binary</a:t>
            </a:r>
          </a:p>
          <a:p>
            <a:r>
              <a:rPr sz="1600">
                <a:solidFill>
                  <a:srgbClr val="101010"/>
                </a:solidFill>
              </a:rPr>
              <a:t>• HighBP</a:t>
            </a:r>
          </a:p>
          <a:p>
            <a:r>
              <a:rPr sz="1600">
                <a:solidFill>
                  <a:srgbClr val="101010"/>
                </a:solidFill>
              </a:rPr>
              <a:t>• HighChol</a:t>
            </a:r>
          </a:p>
          <a:p>
            <a:r>
              <a:rPr sz="1600">
                <a:solidFill>
                  <a:srgbClr val="101010"/>
                </a:solidFill>
              </a:rPr>
              <a:t>• CholCheck</a:t>
            </a:r>
          </a:p>
          <a:p>
            <a:r>
              <a:rPr sz="1600">
                <a:solidFill>
                  <a:srgbClr val="101010"/>
                </a:solidFill>
              </a:rPr>
              <a:t>• Smoker</a:t>
            </a:r>
          </a:p>
          <a:p>
            <a:r>
              <a:rPr sz="1600">
                <a:solidFill>
                  <a:srgbClr val="101010"/>
                </a:solidFill>
              </a:rPr>
              <a:t>• Stroke</a:t>
            </a:r>
          </a:p>
          <a:p>
            <a:r>
              <a:rPr sz="1600">
                <a:solidFill>
                  <a:srgbClr val="101010"/>
                </a:solidFill>
              </a:rPr>
              <a:t>• HeartDiseaseorAttack</a:t>
            </a:r>
          </a:p>
          <a:p>
            <a:r>
              <a:rPr sz="1600">
                <a:solidFill>
                  <a:srgbClr val="101010"/>
                </a:solidFill>
              </a:rPr>
              <a:t>• PhysActivity</a:t>
            </a:r>
          </a:p>
          <a:p>
            <a:r>
              <a:rPr sz="1600">
                <a:solidFill>
                  <a:srgbClr val="101010"/>
                </a:solidFill>
              </a:rPr>
              <a:t>• Fruits</a:t>
            </a:r>
          </a:p>
          <a:p>
            <a:r>
              <a:rPr sz="1600">
                <a:solidFill>
                  <a:srgbClr val="101010"/>
                </a:solidFill>
              </a:rPr>
              <a:t>• Veggies</a:t>
            </a:r>
          </a:p>
          <a:p>
            <a:r>
              <a:rPr sz="1600">
                <a:solidFill>
                  <a:srgbClr val="101010"/>
                </a:solidFill>
              </a:rPr>
              <a:t>• HvyAlcoholConsump</a:t>
            </a:r>
          </a:p>
          <a:p>
            <a:r>
              <a:rPr sz="1600">
                <a:solidFill>
                  <a:srgbClr val="101010"/>
                </a:solidFill>
              </a:rPr>
              <a:t>• AnyHealthcare</a:t>
            </a:r>
          </a:p>
          <a:p>
            <a:r>
              <a:rPr sz="1600">
                <a:solidFill>
                  <a:srgbClr val="101010"/>
                </a:solidFill>
              </a:rPr>
              <a:t>• NoDocbcCost</a:t>
            </a:r>
          </a:p>
          <a:p>
            <a:r>
              <a:rPr sz="1600">
                <a:solidFill>
                  <a:srgbClr val="101010"/>
                </a:solidFill>
              </a:rPr>
              <a:t>• DiffWalk</a:t>
            </a:r>
          </a:p>
          <a:p>
            <a:r>
              <a:rPr sz="1600">
                <a:solidFill>
                  <a:srgbClr val="101010"/>
                </a:solidFill>
              </a:rPr>
              <a:t>• Sex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7287" y="1280160"/>
            <a:ext cx="545576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1441E"/>
                </a:solidFill>
              </a:rPr>
              <a:t>Continuous / ordinal</a:t>
            </a:r>
          </a:p>
          <a:p>
            <a:r>
              <a:rPr sz="1600">
                <a:solidFill>
                  <a:srgbClr val="101010"/>
                </a:solidFill>
              </a:rPr>
              <a:t>• BMI</a:t>
            </a:r>
          </a:p>
          <a:p>
            <a:r>
              <a:rPr sz="1600">
                <a:solidFill>
                  <a:srgbClr val="101010"/>
                </a:solidFill>
              </a:rPr>
              <a:t>• GenHlth (1 excellent – 5 poor)</a:t>
            </a:r>
          </a:p>
          <a:p>
            <a:r>
              <a:rPr sz="1600">
                <a:solidFill>
                  <a:srgbClr val="101010"/>
                </a:solidFill>
              </a:rPr>
              <a:t>• MentHlth (days in past 30)</a:t>
            </a:r>
          </a:p>
          <a:p>
            <a:r>
              <a:rPr sz="1600">
                <a:solidFill>
                  <a:srgbClr val="101010"/>
                </a:solidFill>
              </a:rPr>
              <a:t>• PhysHlth (days in past 30)</a:t>
            </a:r>
          </a:p>
          <a:p>
            <a:r>
              <a:rPr sz="1600">
                <a:solidFill>
                  <a:srgbClr val="101010"/>
                </a:solidFill>
              </a:rPr>
              <a:t>• Age (1 youngest – 13 oldest)</a:t>
            </a:r>
          </a:p>
          <a:p>
            <a:r>
              <a:rPr sz="1600">
                <a:solidFill>
                  <a:srgbClr val="101010"/>
                </a:solidFill>
              </a:rPr>
              <a:t>• Education</a:t>
            </a:r>
          </a:p>
          <a:p>
            <a:r>
              <a:rPr sz="1600">
                <a:solidFill>
                  <a:srgbClr val="101010"/>
                </a:solidFill>
              </a:rPr>
              <a:t>• 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55555"/>
                </a:solidFill>
              </a:rPr>
              <a:t>Categorical predictors converted to factors for logit + tree; KNN used numeric encoding with z-score scaling.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Diabetes Risk Prediction by Patient Health Indicators  |  J. Ermert  |  MIS 401  | 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</a:rPr>
              <a:t>Preliminary Analysis (EDA Highlights)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01010"/>
                </a:solidFill>
              </a:rPr>
              <a:t>• BMI shifts upward with diabetes status (median ~27 → 30 → 31).</a:t>
            </a:r>
          </a:p>
          <a:p>
            <a:r>
              <a:rPr sz="2000">
                <a:solidFill>
                  <a:srgbClr val="101010"/>
                </a:solidFill>
              </a:rPr>
              <a:t>• Age category increases with diabetes status (median 8 → 9 → 10).</a:t>
            </a:r>
          </a:p>
          <a:p>
            <a:r>
              <a:rPr sz="2000">
                <a:solidFill>
                  <a:srgbClr val="101010"/>
                </a:solidFill>
              </a:rPr>
              <a:t>• Self-rated General Health is markedly worse in the diabetes group.</a:t>
            </a:r>
          </a:p>
          <a:p>
            <a:r>
              <a:rPr sz="2000">
                <a:solidFill>
                  <a:srgbClr val="101010"/>
                </a:solidFill>
              </a:rPr>
              <a:t>• HighBP is roughly 3× more common in the diabetes group than in NoDiabetes.</a:t>
            </a:r>
          </a:p>
          <a:p>
            <a:r>
              <a:rPr sz="2000">
                <a:solidFill>
                  <a:srgbClr val="101010"/>
                </a:solidFill>
              </a:rPr>
              <a:t>• HighChol shows the same direction at slightly smaller magnitude.</a:t>
            </a:r>
          </a:p>
          <a:p>
            <a:r>
              <a:rPr sz="2000">
                <a:solidFill>
                  <a:srgbClr val="101010"/>
                </a:solidFill>
              </a:rPr>
              <a:t>• PhysActivity is somewhat lower; Sex effect present but weaker than the four above.</a:t>
            </a:r>
          </a:p>
          <a:p>
            <a:r>
              <a:rPr sz="2000">
                <a:solidFill>
                  <a:srgbClr val="101010"/>
                </a:solidFill>
              </a:rPr>
              <a:t>• Strongest early signals: HighBP, GenHlth, HighChol, BMI, 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Diabetes Risk Prediction by Patient Health Indicators  |  J. Ermert  |  MIS 401  | 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</a:rP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01010"/>
                </a:solidFill>
              </a:rPr>
              <a:t>• Same 70/30 train/test split with set.seed(401) for all three models.</a:t>
            </a:r>
          </a:p>
          <a:p>
            <a:r>
              <a:rPr sz="2000">
                <a:solidFill>
                  <a:srgbClr val="101010"/>
                </a:solidFill>
              </a:rPr>
              <a:t>• Train n = 177,576  |  Test n = 76,104.</a:t>
            </a:r>
          </a:p>
          <a:p>
            <a:r>
              <a:rPr sz="2000">
                <a:solidFill>
                  <a:srgbClr val="101010"/>
                </a:solidFill>
              </a:rPr>
              <a:t>• Multinomial Logistic Regression — nnet::multinom on factor-coded predictors.</a:t>
            </a:r>
          </a:p>
          <a:p>
            <a:r>
              <a:rPr sz="2000">
                <a:solidFill>
                  <a:srgbClr val="101010"/>
                </a:solidFill>
              </a:rPr>
              <a:t>• KNN — class::knn on z-scored numeric predictors; tuned over k ∈ {3, 5, 7, 9}.</a:t>
            </a:r>
          </a:p>
          <a:p>
            <a:r>
              <a:rPr sz="2000">
                <a:solidFill>
                  <a:srgbClr val="101010"/>
                </a:solidFill>
              </a:rPr>
              <a:t>• Decision Tree — rpart with method = 'class'.</a:t>
            </a:r>
          </a:p>
          <a:p>
            <a:pPr lvl="1"/>
            <a:r>
              <a:rPr sz="1700">
                <a:solidFill>
                  <a:srgbClr val="101010"/>
                </a:solidFill>
              </a:rPr>
              <a:t>– Default rpart (cp = 0.01) refused to split — tuned to cp = 0.001, minsplit = 2000, minbucket = 1000, maxdepth = 5 to grow a usable shallow tree.</a:t>
            </a:r>
          </a:p>
          <a:p>
            <a:r>
              <a:rPr sz="2000">
                <a:solidFill>
                  <a:srgbClr val="101010"/>
                </a:solidFill>
              </a:rPr>
              <a:t>• Evaluation: confusion matrix + overall test accuracy + tree variable importance.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Diabetes Risk Prediction by Patient Health Indicators  |  J. Ermert  |  MIS 401  | 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</a:rPr>
              <a:t>Model Comparison (Test Accuracy)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6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Test Accuracy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Decision Tree (cp = 0.001, depth =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0.8475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Multinomial 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0.8467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KNN (best K = 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0.8382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KNN (k =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01010"/>
                          </a:solidFill>
                        </a:rPr>
                        <a:t>0.8301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9768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1441E"/>
                </a:solidFill>
              </a:rPr>
              <a:t>• All four variants land within ~2 points of each other — and within ~0.5 points of the 84.2 % majority-class baseline.</a:t>
            </a:r>
          </a:p>
          <a:p>
            <a:r>
              <a:rPr sz="1600">
                <a:solidFill>
                  <a:srgbClr val="101010"/>
                </a:solidFill>
              </a:rPr>
              <a:t>• Accuracy alone is misleading on this dataset; per-class evidence follows.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Diabetes Risk Prediction by Patient Health Indicators  |  J. Ermert  |  MIS 401  | 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</a:rPr>
              <a:t>Decision Tree — Structure</a:t>
            </a:r>
          </a:p>
        </p:txBody>
      </p:sp>
      <p:pic>
        <p:nvPicPr>
          <p:cNvPr id="3" name="Picture 2" descr="decision_tre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4339"/>
            <a:ext cx="8041073" cy="51692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One Diabetes-predicting leaf: HighBP=1 ∧ GenHlth ≥ 4 ∧ BMI ≥ 28 ∧ HighChol=1 ∧ BMI ≥ 35 (n = 3,961, ~60 % Diabetes).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Diabetes Risk Prediction by Patient Health Indicators  |  J. Ermert  |  MIS 401  | 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</a:rPr>
              <a:t>Variable Importance and 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01010"/>
                </a:solidFill>
              </a:rPr>
              <a:t>• Decision-tree variable importance (top): HighBP &gt; GenHlth &gt; HighChol &gt; DiffWalk &gt; Age &gt; PhysHlth &gt; BMI &gt; HeartDiseaseorAttack.</a:t>
            </a:r>
          </a:p>
          <a:p>
            <a:pPr lvl="1"/>
            <a:r>
              <a:rPr sz="1700">
                <a:solidFill>
                  <a:srgbClr val="101010"/>
                </a:solidFill>
              </a:rPr>
              <a:t>– Lines up directly with EDA: HighBP, GenHlth, HighChol, BMI, Age.</a:t>
            </a:r>
          </a:p>
          <a:p>
            <a:pPr lvl="1"/>
            <a:r>
              <a:rPr sz="1700">
                <a:solidFill>
                  <a:srgbClr val="101010"/>
                </a:solidFill>
              </a:rPr>
              <a:t>– Aligns with established Type II diabetes risk-factor literature.</a:t>
            </a:r>
          </a:p>
          <a:p>
            <a:r>
              <a:rPr sz="2000">
                <a:solidFill>
                  <a:srgbClr val="101010"/>
                </a:solidFill>
              </a:rPr>
              <a:t>• All models predict NoDiabetes for ~98 % of test rows; only KNN k = 5 ever predicts Prediabetes (88 times, 2 correct).</a:t>
            </a:r>
          </a:p>
          <a:p>
            <a:r>
              <a:rPr sz="2000">
                <a:solidFill>
                  <a:srgbClr val="101010"/>
                </a:solidFill>
              </a:rPr>
              <a:t>• Diabetes-class sensitivity: Tree 9 %  |  Logit 17 %  |  KNN k=5 22 %.</a:t>
            </a:r>
          </a:p>
          <a:p>
            <a:r>
              <a:rPr sz="2000">
                <a:solidFill>
                  <a:srgbClr val="101010"/>
                </a:solidFill>
              </a:rPr>
              <a:t>• Decision Tree wins on accuracy by trading sensitivity for precision; logit is the most balanced single deployable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Diabetes Risk Prediction by Patient Health Indicators  |  J. Ermert  |  MIS 401  | 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</a:rPr>
              <a:t>Practical Value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01010"/>
                </a:solidFill>
              </a:rPr>
              <a:t>• Even at modest sensitivity, the tree is operationally useful in two ways:</a:t>
            </a:r>
          </a:p>
          <a:p>
            <a:pPr lvl="1"/>
            <a:r>
              <a:rPr sz="1700">
                <a:solidFill>
                  <a:srgbClr val="101010"/>
                </a:solidFill>
              </a:rPr>
              <a:t>– "Rule-out" branch: 101,437 patients with HighBP = 0 → only 6 % Diabetes rate. Safe to deprioritize from intensive screening.</a:t>
            </a:r>
          </a:p>
          <a:p>
            <a:pPr lvl="1"/>
            <a:r>
              <a:rPr sz="1700">
                <a:solidFill>
                  <a:srgbClr val="101010"/>
                </a:solidFill>
              </a:rPr>
              <a:t>– "High-risk" leaf: 3,961 patients (BMI ≥ 35 + HighChol + GenHlth poor + HighBP = 1) → ~60 % Diabetes rate, ~5× the population base rate.</a:t>
            </a:r>
          </a:p>
          <a:p>
            <a:r>
              <a:rPr sz="2000">
                <a:solidFill>
                  <a:srgbClr val="101010"/>
                </a:solidFill>
              </a:rPr>
              <a:t>• Honest framing: accuracy ≈ baseline; class imbalance dominates results.</a:t>
            </a:r>
          </a:p>
          <a:p>
            <a:r>
              <a:rPr sz="2000">
                <a:solidFill>
                  <a:srgbClr val="101010"/>
                </a:solidFill>
              </a:rPr>
              <a:t>• Clearest improvement path is methodological — class weights, oversampling, or a cost-sensitive threshold — not a different algorithm.</a:t>
            </a:r>
          </a:p>
          <a:p>
            <a:r>
              <a:rPr sz="2000">
                <a:solidFill>
                  <a:srgbClr val="101010"/>
                </a:solidFill>
              </a:rPr>
              <a:t>• AI disclosure: generative AI organized + polished structure; data, methods, and analytical decisions are the author's, supported by validated R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Diabetes Risk Prediction by Patient Health Indicators  |  J. Ermert  |  MIS 401  | 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1090</Words>
  <Application>Microsoft Office PowerPoint</Application>
  <PresentationFormat>Widescreen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Joshua Ermert</cp:lastModifiedBy>
  <cp:revision>2</cp:revision>
  <dcterms:created xsi:type="dcterms:W3CDTF">2013-01-27T09:14:16Z</dcterms:created>
  <dcterms:modified xsi:type="dcterms:W3CDTF">2026-05-07T23:01:29Z</dcterms:modified>
  <cp:category/>
</cp:coreProperties>
</file>